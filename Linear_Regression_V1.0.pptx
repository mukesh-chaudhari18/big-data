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hgaam0LqDfI8/2eBpQIDPqT3YR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458200" y="4850606"/>
            <a:ext cx="533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4"/>
          <p:cNvSpPr/>
          <p:nvPr/>
        </p:nvSpPr>
        <p:spPr>
          <a:xfrm>
            <a:off x="0" y="666750"/>
            <a:ext cx="9144000" cy="45719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34200" y="116292"/>
            <a:ext cx="1981200" cy="512569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4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7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3" name="Google Shape;43;p17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7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7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20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1" type="ftr"/>
          </p:nvPr>
        </p:nvSpPr>
        <p:spPr>
          <a:xfrm>
            <a:off x="3810000" y="4869656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4888706"/>
            <a:ext cx="9144000" cy="254794"/>
          </a:xfrm>
          <a:prstGeom prst="rect">
            <a:avLst/>
          </a:prstGeom>
          <a:solidFill>
            <a:srgbClr val="538C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2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2" type="sldNum"/>
          </p:nvPr>
        </p:nvSpPr>
        <p:spPr>
          <a:xfrm>
            <a:off x="8610600" y="4850606"/>
            <a:ext cx="381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12"/>
          <p:cNvSpPr txBox="1"/>
          <p:nvPr/>
        </p:nvSpPr>
        <p:spPr>
          <a:xfrm>
            <a:off x="0" y="4869656"/>
            <a:ext cx="3886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© 2018  DataMites™. All Rights Reserved | www.datamites.com</a:t>
            </a:r>
            <a:endParaRPr b="1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3810000" y="4869656"/>
            <a:ext cx="41148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jpg"/><Relationship Id="rId5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>
            <p:ph type="title"/>
          </p:nvPr>
        </p:nvSpPr>
        <p:spPr>
          <a:xfrm>
            <a:off x="0" y="1931744"/>
            <a:ext cx="9144000" cy="1280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cap="none">
                <a:latin typeface="Calibri"/>
                <a:ea typeface="Calibri"/>
                <a:cs typeface="Calibri"/>
                <a:sym typeface="Calibri"/>
              </a:rPr>
              <a:t>Linear Regression</a:t>
            </a:r>
            <a:br>
              <a:rPr lang="en-US" cap="none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3200" cap="none">
                <a:latin typeface="Calibri"/>
                <a:ea typeface="Calibri"/>
                <a:cs typeface="Calibri"/>
                <a:sym typeface="Calibri"/>
              </a:rPr>
              <a:t>Supervised Machine Learning</a:t>
            </a:r>
            <a:endParaRPr b="0" sz="2800" cap="non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Course Topics</a:t>
            </a:r>
            <a:endParaRPr/>
          </a:p>
        </p:txBody>
      </p:sp>
      <p:sp>
        <p:nvSpPr>
          <p:cNvPr id="89" name="Google Shape;89;p2"/>
          <p:cNvSpPr txBox="1"/>
          <p:nvPr>
            <p:ph idx="1" type="body"/>
          </p:nvPr>
        </p:nvSpPr>
        <p:spPr>
          <a:xfrm>
            <a:off x="457200" y="1123950"/>
            <a:ext cx="85344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What is Linear Regression?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How Linear Regression works?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Linear Regression Assumptions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Pros and Cons of Linear Regression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Applications of Linear Regression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</a:pPr>
            <a:r>
              <a:rPr lang="en-US" sz="2400"/>
              <a:t>Modeling Linear Regression with Python</a:t>
            </a:r>
            <a:endParaRPr/>
          </a:p>
        </p:txBody>
      </p:sp>
      <p:sp>
        <p:nvSpPr>
          <p:cNvPr id="90" name="Google Shape;90;p2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457200" y="133350"/>
            <a:ext cx="5029200" cy="460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What is Linear Regression?</a:t>
            </a:r>
            <a:endParaRPr/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228600" y="895350"/>
            <a:ext cx="6989956" cy="3513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000"/>
              <a:t>Linear Regression is a Supervised Machine Learning Algorithm.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/>
              <a:t>Linear Regression is used to predict the continuous value.</a:t>
            </a:r>
            <a:endParaRPr/>
          </a:p>
          <a:p>
            <a:pPr indent="-2032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000"/>
              <a:t>Linear Regression is used to identify the linear relationship between dependent and independent variables.</a:t>
            </a:r>
            <a:endParaRPr sz="2000"/>
          </a:p>
        </p:txBody>
      </p:sp>
      <p:sp>
        <p:nvSpPr>
          <p:cNvPr id="99" name="Google Shape;99;p3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 rotWithShape="1">
          <a:blip r:embed="rId3">
            <a:alphaModFix/>
          </a:blip>
          <a:srcRect b="6732" l="0" r="18641" t="7970"/>
          <a:stretch/>
        </p:blipFill>
        <p:spPr>
          <a:xfrm>
            <a:off x="7277100" y="1100254"/>
            <a:ext cx="1866900" cy="282233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3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228600" y="80799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Linear Regression works?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0" y="839076"/>
            <a:ext cx="3771580" cy="1795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2859225"/>
            <a:ext cx="6942841" cy="1822496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4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Assumptions of Linear Regression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304800" y="1010707"/>
            <a:ext cx="5493834" cy="34646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</a:pPr>
            <a:r>
              <a:rPr b="1" lang="en-US" sz="2000"/>
              <a:t>Linear Relationship</a:t>
            </a:r>
            <a:r>
              <a:rPr lang="en-US" sz="2000"/>
              <a:t>: There should be a linear relationship between dependent and independent variables.</a:t>
            </a:r>
            <a:endParaRPr sz="2000"/>
          </a:p>
          <a:p>
            <a:pPr indent="-20066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SzPts val="2240"/>
              <a:buChar char="•"/>
            </a:pPr>
            <a:r>
              <a:rPr b="1" lang="en-US" sz="2000"/>
              <a:t>Multivariate normality :  </a:t>
            </a:r>
            <a:r>
              <a:rPr lang="en-US" sz="2000"/>
              <a:t>Linear regression analysis requires all variables to be multivariate normal</a:t>
            </a:r>
            <a:r>
              <a:rPr b="1" lang="en-US" sz="2000"/>
              <a:t>. Residual (Error)</a:t>
            </a:r>
            <a:r>
              <a:rPr lang="en-US" sz="2000"/>
              <a:t> should be following normal distribution.</a:t>
            </a:r>
            <a:endParaRPr b="1" sz="2000"/>
          </a:p>
          <a:p>
            <a:pPr indent="-20066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sz="2000"/>
          </a:p>
          <a:p>
            <a:pPr indent="-20066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b="1" sz="2000"/>
          </a:p>
          <a:p>
            <a:pPr indent="-342900" lvl="0" marL="34290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Char char="•"/>
            </a:pPr>
            <a:r>
              <a:rPr b="1" lang="en-US" sz="2000"/>
              <a:t>No or little collinearity: </a:t>
            </a:r>
            <a:r>
              <a:rPr lang="en-US" sz="2000"/>
              <a:t>Linear regression assume that there is no multi-collinearity in the data.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ts val="2240"/>
              <a:buNone/>
            </a:pPr>
            <a:r>
              <a:t/>
            </a:r>
            <a:endParaRPr sz="2000"/>
          </a:p>
        </p:txBody>
      </p:sp>
      <p:sp>
        <p:nvSpPr>
          <p:cNvPr id="119" name="Google Shape;119;p5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48908" l="2442" r="69075" t="16694"/>
          <a:stretch/>
        </p:blipFill>
        <p:spPr>
          <a:xfrm>
            <a:off x="5872974" y="743415"/>
            <a:ext cx="2601951" cy="163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46082" l="65787" r="0" t="19147"/>
          <a:stretch/>
        </p:blipFill>
        <p:spPr>
          <a:xfrm>
            <a:off x="5713485" y="2560418"/>
            <a:ext cx="3125715" cy="178837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Pros of Linear Regression</a:t>
            </a:r>
            <a:endParaRPr/>
          </a:p>
        </p:txBody>
      </p:sp>
      <p:sp>
        <p:nvSpPr>
          <p:cNvPr id="129" name="Google Shape;129;p6"/>
          <p:cNvSpPr txBox="1"/>
          <p:nvPr>
            <p:ph idx="1" type="body"/>
          </p:nvPr>
        </p:nvSpPr>
        <p:spPr>
          <a:xfrm>
            <a:off x="457200" y="895350"/>
            <a:ext cx="8229600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20040" lvl="0" marL="3429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Linear regression is an extremely simple method. It is very easy and intuitive to use and understand.</a:t>
            </a:r>
            <a:endParaRPr/>
          </a:p>
          <a:p>
            <a:pPr indent="-32004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Widely used, as many problems can be transformed into linear regression problems.</a:t>
            </a:r>
            <a:endParaRPr sz="2400"/>
          </a:p>
          <a:p>
            <a:pPr indent="-32004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With regularization techniques, handling overfitting issue quite well.</a:t>
            </a:r>
            <a:endParaRPr sz="2400"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30" name="Google Shape;130;p6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Cons of Linear Regression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457200" y="819150"/>
            <a:ext cx="8229600" cy="3775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Assumes there is a straight-line (Linear) relationship between them. If your data are intrinsically nonlinear then linear regression may not yield best results.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Linear regression is very sensitive to the outliers in the data.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8219" l="68228" r="1826" t="57380"/>
          <a:stretch/>
        </p:blipFill>
        <p:spPr>
          <a:xfrm>
            <a:off x="929268" y="2825296"/>
            <a:ext cx="2735766" cy="176932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Applications of  Linear Regression</a:t>
            </a:r>
            <a:endParaRPr/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457200" y="895350"/>
            <a:ext cx="6260084" cy="36992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300"/>
              <a:t>Majority continuous variable predictions are through Linear Regression in business applications.</a:t>
            </a:r>
            <a:endParaRPr sz="3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300"/>
              <a:t>Here are some applications--</a:t>
            </a:r>
            <a:endParaRPr sz="3100"/>
          </a:p>
          <a:p>
            <a:pPr indent="-33655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en-US" sz="2300"/>
              <a:t>Stock Exchange – Price predictions</a:t>
            </a:r>
            <a:endParaRPr sz="3100"/>
          </a:p>
          <a:p>
            <a:pPr indent="-34290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300"/>
              <a:t>Weather forecast - </a:t>
            </a:r>
            <a:r>
              <a:rPr i="0" lang="en-US" sz="2500">
                <a:solidFill>
                  <a:srgbClr val="0D0D0D"/>
                </a:solidFill>
              </a:rPr>
              <a:t>temperatures</a:t>
            </a:r>
            <a:endParaRPr sz="2500"/>
          </a:p>
          <a:p>
            <a:pPr indent="-33655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en-US" sz="2300"/>
              <a:t>Flight price prediction</a:t>
            </a:r>
            <a:endParaRPr sz="3100"/>
          </a:p>
          <a:p>
            <a:pPr indent="-336550" lvl="0" marL="342900" rtl="0" algn="l">
              <a:lnSpc>
                <a:spcPct val="100000"/>
              </a:lnSpc>
              <a:spcBef>
                <a:spcPts val="1176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•"/>
            </a:pPr>
            <a:r>
              <a:rPr lang="en-US" sz="2300"/>
              <a:t>House price predictions</a:t>
            </a:r>
            <a:endParaRPr sz="3100"/>
          </a:p>
        </p:txBody>
      </p:sp>
      <p:sp>
        <p:nvSpPr>
          <p:cNvPr id="149" name="Google Shape;149;p8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2534" y="711500"/>
            <a:ext cx="2331466" cy="1305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2534" y="1997622"/>
            <a:ext cx="2325132" cy="1494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12534" y="3492350"/>
            <a:ext cx="2331466" cy="1396908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152400" y="57150"/>
            <a:ext cx="6553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/>
              <a:t>Modeling Linear Regression</a:t>
            </a:r>
            <a:endParaRPr/>
          </a:p>
        </p:txBody>
      </p:sp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/>
              <a:t>Modeling with Jupyter Notebook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 (attached in resource section of this module)</a:t>
            </a:r>
            <a:endParaRPr/>
          </a:p>
        </p:txBody>
      </p:sp>
      <p:sp>
        <p:nvSpPr>
          <p:cNvPr id="161" name="Google Shape;161;p9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6831980" y="121444"/>
            <a:ext cx="2159620" cy="49172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/>
        </p:nvSpPr>
        <p:spPr>
          <a:xfrm>
            <a:off x="4572000" y="1200150"/>
            <a:ext cx="3334824" cy="14157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Q&amp;A Session</a:t>
            </a:r>
            <a:endParaRPr b="0" i="0" sz="32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 result for machine learning"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590550"/>
            <a:ext cx="3295650" cy="329565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/>
          <p:nvPr/>
        </p:nvSpPr>
        <p:spPr>
          <a:xfrm>
            <a:off x="3810000" y="4869650"/>
            <a:ext cx="3467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EXPERT</a:t>
            </a:r>
            <a:endParaRPr b="1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237893" y="4924824"/>
            <a:ext cx="423746" cy="163552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Ashok HOME</dc:creator>
</cp:coreProperties>
</file>