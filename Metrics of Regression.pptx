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5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9I5PYNP2ybxt1oK1SztwYa/uu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4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34200" y="116292"/>
            <a:ext cx="1981200" cy="51256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2"/>
          <p:cNvSpPr txBox="1"/>
          <p:nvPr/>
        </p:nvSpPr>
        <p:spPr>
          <a:xfrm>
            <a:off x="0" y="4869656"/>
            <a:ext cx="3886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2018  DataMites™. All Rights Reserved | www.datamites.com</a:t>
            </a:r>
            <a:endParaRPr sz="1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>
            <a:spLocks noGrp="1"/>
          </p:cNvSpPr>
          <p:nvPr>
            <p:ph type="title"/>
          </p:nvPr>
        </p:nvSpPr>
        <p:spPr>
          <a:xfrm>
            <a:off x="0" y="1931744"/>
            <a:ext cx="9144000" cy="1280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cap="none" dirty="0">
                <a:latin typeface="Calibri"/>
                <a:ea typeface="Calibri"/>
                <a:cs typeface="Calibri"/>
                <a:sym typeface="Calibri"/>
              </a:rPr>
              <a:t>Regression Metrics</a:t>
            </a:r>
            <a:br>
              <a:rPr lang="en-US" cap="none" dirty="0">
                <a:latin typeface="Calibri"/>
                <a:ea typeface="Calibri"/>
                <a:cs typeface="Calibri"/>
                <a:sym typeface="Calibri"/>
              </a:rPr>
            </a:br>
            <a:endParaRPr sz="2800" b="0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6FA892-2D96-9436-688A-D48983F62D10}"/>
              </a:ext>
            </a:extLst>
          </p:cNvPr>
          <p:cNvSpPr/>
          <p:nvPr/>
        </p:nvSpPr>
        <p:spPr>
          <a:xfrm>
            <a:off x="241610" y="4924824"/>
            <a:ext cx="423746" cy="163552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dirty="0"/>
              <a:t>Regression Metrics</a:t>
            </a:r>
            <a:endParaRPr dirty="0"/>
          </a:p>
        </p:txBody>
      </p:sp>
      <p:sp>
        <p:nvSpPr>
          <p:cNvPr id="93" name="Google Shape;93;p2"/>
          <p:cNvSpPr txBox="1">
            <a:spLocks noGrp="1"/>
          </p:cNvSpPr>
          <p:nvPr>
            <p:ph type="body" idx="1"/>
          </p:nvPr>
        </p:nvSpPr>
        <p:spPr>
          <a:xfrm>
            <a:off x="0" y="2571750"/>
            <a:ext cx="8534400" cy="215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dirty="0"/>
              <a:t>Mean Squared Error (MSE)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dirty="0"/>
              <a:t>Root Mean Squared Error (RMSE)</a:t>
            </a:r>
            <a:endParaRPr dirty="0"/>
          </a:p>
          <a:p>
            <a:pPr marL="342900">
              <a:spcBef>
                <a:spcPts val="480"/>
              </a:spcBef>
              <a:buSzPts val="2400"/>
              <a:buFont typeface="Noto Sans Symbols"/>
              <a:buChar char="✔"/>
            </a:pPr>
            <a:r>
              <a:rPr lang="en-US" sz="2400" dirty="0"/>
              <a:t>Mean Absolute Error (MAE)</a:t>
            </a:r>
          </a:p>
          <a:p>
            <a:pPr marL="342900">
              <a:spcBef>
                <a:spcPts val="480"/>
              </a:spcBef>
              <a:buSzPts val="2400"/>
              <a:buFont typeface="Noto Sans Symbols"/>
              <a:buChar char="✔"/>
            </a:pPr>
            <a:r>
              <a:rPr lang="en-IN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R-squared (R²) Score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dirty="0"/>
              <a:t>Adjusted R2 Score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BEE636-35D8-FABE-3BA5-AD4A6BD09C13}"/>
              </a:ext>
            </a:extLst>
          </p:cNvPr>
          <p:cNvSpPr txBox="1"/>
          <p:nvPr/>
        </p:nvSpPr>
        <p:spPr>
          <a:xfrm>
            <a:off x="0" y="840058"/>
            <a:ext cx="89284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Regression metrics are used to evaluate the performance of regression models, which predict continuous numeric values.</a:t>
            </a:r>
          </a:p>
          <a:p>
            <a:endParaRPr lang="en-US" sz="2400" dirty="0">
              <a:solidFill>
                <a:srgbClr val="0D0D0D"/>
              </a:solidFill>
              <a:latin typeface="Söhne"/>
            </a:endParaRPr>
          </a:p>
          <a:p>
            <a:r>
              <a:rPr lang="en-US" sz="2400" b="1" dirty="0">
                <a:solidFill>
                  <a:srgbClr val="0D0D0D"/>
                </a:solidFill>
                <a:latin typeface="Söhne"/>
              </a:rPr>
              <a:t>Types of Regression Metrics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34D352-CA84-FDEC-06AB-5ACC99E752A0}"/>
              </a:ext>
            </a:extLst>
          </p:cNvPr>
          <p:cNvSpPr/>
          <p:nvPr/>
        </p:nvSpPr>
        <p:spPr>
          <a:xfrm>
            <a:off x="241610" y="4924824"/>
            <a:ext cx="423746" cy="163552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IN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DFCA3A4-3844-68CC-7296-1E51F699D004}"/>
              </a:ext>
            </a:extLst>
          </p:cNvPr>
          <p:cNvSpPr txBox="1"/>
          <p:nvPr/>
        </p:nvSpPr>
        <p:spPr>
          <a:xfrm>
            <a:off x="6844990" y="117871"/>
            <a:ext cx="2159620" cy="4917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Squared Error (MSE)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MSE(Mean squared error) evaluation metrics for regression">
            <a:extLst>
              <a:ext uri="{FF2B5EF4-FFF2-40B4-BE49-F238E27FC236}">
                <a16:creationId xmlns:a16="http://schemas.microsoft.com/office/drawing/2014/main" id="{0425B579-E7FD-36EB-F7B2-5E056314F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444" y="1504824"/>
            <a:ext cx="4170556" cy="2493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4B2DB8-4B4D-A1CF-F705-364029818377}"/>
              </a:ext>
            </a:extLst>
          </p:cNvPr>
          <p:cNvSpPr txBox="1"/>
          <p:nvPr/>
        </p:nvSpPr>
        <p:spPr>
          <a:xfrm>
            <a:off x="0" y="1966898"/>
            <a:ext cx="48916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latin typeface="Inter"/>
              </a:rPr>
              <a:t>Mean Squared Error is a most used and very simple. </a:t>
            </a:r>
          </a:p>
          <a:p>
            <a:r>
              <a:rPr lang="en-US" sz="2400" b="0" i="0" dirty="0">
                <a:solidFill>
                  <a:schemeClr val="tx1"/>
                </a:solidFill>
                <a:effectLst/>
                <a:latin typeface="Inter"/>
              </a:rPr>
              <a:t>Mean Squared </a:t>
            </a:r>
            <a:r>
              <a:rPr lang="en-US" sz="2400" dirty="0">
                <a:solidFill>
                  <a:schemeClr val="tx1"/>
                </a:solidFill>
                <a:latin typeface="Inter"/>
              </a:rPr>
              <a:t>E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Inter"/>
              </a:rPr>
              <a:t>rror states that finding the squared difference between actual and predicted value.</a:t>
            </a:r>
            <a:endParaRPr lang="en-IN" sz="24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699F61-D30E-B45F-E6DE-C4185DE11D9F}"/>
              </a:ext>
            </a:extLst>
          </p:cNvPr>
          <p:cNvCxnSpPr/>
          <p:nvPr/>
        </p:nvCxnSpPr>
        <p:spPr>
          <a:xfrm flipH="1" flipV="1">
            <a:off x="7277100" y="1694985"/>
            <a:ext cx="417241" cy="683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ACA995-1CB0-538F-7C2B-30A99B2C8DDC}"/>
              </a:ext>
            </a:extLst>
          </p:cNvPr>
          <p:cNvCxnSpPr/>
          <p:nvPr/>
        </p:nvCxnSpPr>
        <p:spPr>
          <a:xfrm flipV="1">
            <a:off x="8311376" y="1694985"/>
            <a:ext cx="129168" cy="683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7CAD92-A8DF-26B3-C038-13FEF361E472}"/>
              </a:ext>
            </a:extLst>
          </p:cNvPr>
          <p:cNvSpPr txBox="1"/>
          <p:nvPr/>
        </p:nvSpPr>
        <p:spPr>
          <a:xfrm>
            <a:off x="6475141" y="1424070"/>
            <a:ext cx="3092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Actual value      Predicted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002D7E-2694-6BA3-F0F7-6A24E269067F}"/>
              </a:ext>
            </a:extLst>
          </p:cNvPr>
          <p:cNvSpPr/>
          <p:nvPr/>
        </p:nvSpPr>
        <p:spPr>
          <a:xfrm>
            <a:off x="241610" y="4924824"/>
            <a:ext cx="423746" cy="163552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IN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D7A5E6F8-70AD-2383-503E-C7C334BF0440}"/>
              </a:ext>
            </a:extLst>
          </p:cNvPr>
          <p:cNvSpPr txBox="1"/>
          <p:nvPr/>
        </p:nvSpPr>
        <p:spPr>
          <a:xfrm>
            <a:off x="6844990" y="117871"/>
            <a:ext cx="2159620" cy="4917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dirty="0"/>
              <a:t>Root Mean Squared Error</a:t>
            </a:r>
            <a:endParaRPr dirty="0"/>
          </a:p>
        </p:txBody>
      </p:sp>
      <p:sp>
        <p:nvSpPr>
          <p:cNvPr id="120" name="Google Shape;120;p5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6" name="Picture 4" descr="evaluation metrics for regression | Rmse">
            <a:extLst>
              <a:ext uri="{FF2B5EF4-FFF2-40B4-BE49-F238E27FC236}">
                <a16:creationId xmlns:a16="http://schemas.microsoft.com/office/drawing/2014/main" id="{3ADB9E0E-C0F0-3C55-CFD1-C8522141D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81125"/>
            <a:ext cx="3429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6CEAE4-FC2A-904F-D1BA-C0D962E61023}"/>
              </a:ext>
            </a:extLst>
          </p:cNvPr>
          <p:cNvSpPr txBox="1"/>
          <p:nvPr/>
        </p:nvSpPr>
        <p:spPr>
          <a:xfrm>
            <a:off x="89210" y="1981664"/>
            <a:ext cx="5625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latin typeface="Inter"/>
              </a:rPr>
              <a:t>RMSE is clear by the name itself, that it is a simple square root of mean squared error.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DA761B-A5DE-A09C-6C4F-B7338C064A39}"/>
              </a:ext>
            </a:extLst>
          </p:cNvPr>
          <p:cNvSpPr/>
          <p:nvPr/>
        </p:nvSpPr>
        <p:spPr>
          <a:xfrm>
            <a:off x="241610" y="4924824"/>
            <a:ext cx="423746" cy="163552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840C3-66BD-E0F7-F517-779CF2AC18D4}"/>
              </a:ext>
            </a:extLst>
          </p:cNvPr>
          <p:cNvSpPr txBox="1"/>
          <p:nvPr/>
        </p:nvSpPr>
        <p:spPr>
          <a:xfrm>
            <a:off x="6844990" y="117871"/>
            <a:ext cx="2159620" cy="4917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4754137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dirty="0"/>
              <a:t>Mean Absolute Error (MAE)</a:t>
            </a:r>
            <a:endParaRPr dirty="0"/>
          </a:p>
        </p:txBody>
      </p:sp>
      <p:sp>
        <p:nvSpPr>
          <p:cNvPr id="103" name="Google Shape;103;p3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95919-33AD-13B6-3EA9-5782D1306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75936"/>
            <a:ext cx="5310768" cy="205345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Inter"/>
              </a:rPr>
              <a:t>Mean Absolute Error is a very simple metric which calculates the absolute difference between actual and predicted values.</a:t>
            </a:r>
          </a:p>
          <a:p>
            <a:pPr marL="114300" indent="0">
              <a:buNone/>
            </a:pPr>
            <a:endParaRPr lang="en-IN" sz="2400" dirty="0">
              <a:solidFill>
                <a:schemeClr val="tx1"/>
              </a:solidFill>
            </a:endParaRPr>
          </a:p>
        </p:txBody>
      </p:sp>
      <p:pic>
        <p:nvPicPr>
          <p:cNvPr id="1032" name="Picture 8" descr="evaluation metrics for regression mae">
            <a:extLst>
              <a:ext uri="{FF2B5EF4-FFF2-40B4-BE49-F238E27FC236}">
                <a16:creationId xmlns:a16="http://schemas.microsoft.com/office/drawing/2014/main" id="{B6B3EAA1-68E4-ACBB-DB10-A223FF444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768" y="1675936"/>
            <a:ext cx="3833232" cy="205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2D0EB08-BD75-52F4-B1E6-36672BB9116C}"/>
              </a:ext>
            </a:extLst>
          </p:cNvPr>
          <p:cNvSpPr/>
          <p:nvPr/>
        </p:nvSpPr>
        <p:spPr>
          <a:xfrm>
            <a:off x="241610" y="4924824"/>
            <a:ext cx="423746" cy="163552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72FD6-18B2-2FF3-6D68-826B2C675478}"/>
              </a:ext>
            </a:extLst>
          </p:cNvPr>
          <p:cNvSpPr txBox="1"/>
          <p:nvPr/>
        </p:nvSpPr>
        <p:spPr>
          <a:xfrm>
            <a:off x="6844990" y="117871"/>
            <a:ext cx="2159620" cy="4917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152400" y="57150"/>
            <a:ext cx="395124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>
              <a:spcBef>
                <a:spcPts val="480"/>
              </a:spcBef>
              <a:buSzPts val="2400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R-squared (R²) Score</a:t>
            </a:r>
          </a:p>
        </p:txBody>
      </p:sp>
      <p:sp>
        <p:nvSpPr>
          <p:cNvPr id="128" name="Google Shape;128;p6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0" name="Picture 4" descr="image">
            <a:extLst>
              <a:ext uri="{FF2B5EF4-FFF2-40B4-BE49-F238E27FC236}">
                <a16:creationId xmlns:a16="http://schemas.microsoft.com/office/drawing/2014/main" id="{D2E36C3A-B640-C74C-0C25-494405F718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7" t="14957" r="12601" b="5251"/>
          <a:stretch/>
        </p:blipFill>
        <p:spPr bwMode="auto">
          <a:xfrm>
            <a:off x="4824761" y="1174595"/>
            <a:ext cx="4319239" cy="303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E48464-7A98-23BB-30A9-19A1112B2490}"/>
              </a:ext>
            </a:extLst>
          </p:cNvPr>
          <p:cNvSpPr txBox="1"/>
          <p:nvPr/>
        </p:nvSpPr>
        <p:spPr>
          <a:xfrm>
            <a:off x="0" y="1840611"/>
            <a:ext cx="47541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/>
              <a:t>R2 Score tells about model Goodness of the fit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/>
              <a:t>R2 Score tell us how much data information we get about target variable and how much data has been fit by our model.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CCA08A-FB4C-974F-DAFA-2F5FCBAECBF6}"/>
              </a:ext>
            </a:extLst>
          </p:cNvPr>
          <p:cNvSpPr/>
          <p:nvPr/>
        </p:nvSpPr>
        <p:spPr>
          <a:xfrm>
            <a:off x="241610" y="4924824"/>
            <a:ext cx="423746" cy="163552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B1FF5-5A93-7FF6-DA1A-11B6DBCF9D3A}"/>
              </a:ext>
            </a:extLst>
          </p:cNvPr>
          <p:cNvSpPr txBox="1"/>
          <p:nvPr/>
        </p:nvSpPr>
        <p:spPr>
          <a:xfrm>
            <a:off x="6844990" y="117871"/>
            <a:ext cx="2159620" cy="4917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3200" dirty="0"/>
              <a:t>Adjusted R2 Score</a:t>
            </a:r>
            <a:endParaRPr lang="en-US" dirty="0"/>
          </a:p>
        </p:txBody>
      </p:sp>
      <p:sp>
        <p:nvSpPr>
          <p:cNvPr id="136" name="Google Shape;136;p7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7F8DF-5B8C-D761-284A-AB47FBD71F4E}"/>
              </a:ext>
            </a:extLst>
          </p:cNvPr>
          <p:cNvSpPr txBox="1"/>
          <p:nvPr/>
        </p:nvSpPr>
        <p:spPr>
          <a:xfrm>
            <a:off x="230459" y="921834"/>
            <a:ext cx="8735121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400" i="0" dirty="0">
                <a:solidFill>
                  <a:schemeClr val="tx1"/>
                </a:solidFill>
                <a:effectLst/>
                <a:latin typeface="Inter"/>
              </a:rPr>
              <a:t>Adjusted R2 Score penalize the attributes or Features that are not co-related with target variables.</a:t>
            </a:r>
          </a:p>
          <a:p>
            <a:endParaRPr lang="pt-BR" b="1" dirty="0">
              <a:solidFill>
                <a:schemeClr val="tx1"/>
              </a:solidFill>
              <a:latin typeface="Inter"/>
            </a:endParaRPr>
          </a:p>
          <a:p>
            <a:endParaRPr lang="pt-BR" b="1" i="0" dirty="0">
              <a:solidFill>
                <a:schemeClr val="tx1"/>
              </a:solidFill>
              <a:effectLst/>
              <a:latin typeface="Inter"/>
            </a:endParaRPr>
          </a:p>
          <a:p>
            <a:r>
              <a:rPr lang="pt-BR" b="1" dirty="0">
                <a:solidFill>
                  <a:schemeClr val="tx1"/>
                </a:solidFill>
                <a:latin typeface="Inter"/>
              </a:rPr>
              <a:t> 			_Formula_</a:t>
            </a:r>
          </a:p>
          <a:p>
            <a:endParaRPr lang="pt-BR" b="1" i="0" dirty="0">
              <a:solidFill>
                <a:schemeClr val="tx1"/>
              </a:solidFill>
              <a:effectLst/>
              <a:latin typeface="Inter"/>
            </a:endParaRPr>
          </a:p>
          <a:p>
            <a:r>
              <a:rPr lang="pt-BR" b="1" i="0" dirty="0">
                <a:solidFill>
                  <a:schemeClr val="tx1"/>
                </a:solidFill>
                <a:effectLst/>
                <a:latin typeface="Inter"/>
              </a:rPr>
              <a:t>	             Adjusted R-Squared = 1- [(1 – R</a:t>
            </a:r>
            <a:r>
              <a:rPr lang="pt-BR" b="1" i="0" baseline="30000" dirty="0">
                <a:solidFill>
                  <a:schemeClr val="tx1"/>
                </a:solidFill>
                <a:effectLst/>
                <a:latin typeface="Inter"/>
              </a:rPr>
              <a:t>2</a:t>
            </a:r>
            <a:r>
              <a:rPr lang="pt-BR" b="1" i="0" dirty="0">
                <a:solidFill>
                  <a:schemeClr val="tx1"/>
                </a:solidFill>
                <a:effectLst/>
                <a:latin typeface="Inter"/>
              </a:rPr>
              <a:t>) (n – 1)/ (n – k – 1)]</a:t>
            </a:r>
          </a:p>
          <a:p>
            <a:endParaRPr lang="pt-BR" b="1" i="0" dirty="0">
              <a:solidFill>
                <a:schemeClr val="tx1"/>
              </a:solidFill>
              <a:effectLst/>
              <a:latin typeface="Inter"/>
            </a:endParaRPr>
          </a:p>
          <a:p>
            <a:pPr lvl="6"/>
            <a:r>
              <a:rPr lang="en-US" b="0" i="0" dirty="0">
                <a:solidFill>
                  <a:schemeClr val="tx1"/>
                </a:solidFill>
                <a:effectLst/>
                <a:latin typeface="Inter"/>
              </a:rPr>
              <a:t>	             where,</a:t>
            </a:r>
          </a:p>
          <a:p>
            <a:pPr lvl="6"/>
            <a:r>
              <a:rPr lang="en-US" b="1" i="0" dirty="0">
                <a:solidFill>
                  <a:schemeClr val="tx1"/>
                </a:solidFill>
                <a:effectLst/>
                <a:latin typeface="Inter"/>
              </a:rPr>
              <a:t>	             n:</a:t>
            </a:r>
            <a:r>
              <a:rPr lang="en-US" b="0" i="0" dirty="0">
                <a:solidFill>
                  <a:schemeClr val="tx1"/>
                </a:solidFill>
                <a:effectLst/>
                <a:latin typeface="Inter"/>
              </a:rPr>
              <a:t> number of data points</a:t>
            </a:r>
          </a:p>
          <a:p>
            <a:pPr lvl="6"/>
            <a:r>
              <a:rPr lang="en-US" b="1" i="0" dirty="0">
                <a:solidFill>
                  <a:schemeClr val="tx1"/>
                </a:solidFill>
                <a:effectLst/>
                <a:latin typeface="Inter"/>
              </a:rPr>
              <a:t>	             k:</a:t>
            </a:r>
            <a:r>
              <a:rPr lang="en-US" b="0" i="0" dirty="0">
                <a:solidFill>
                  <a:schemeClr val="tx1"/>
                </a:solidFill>
                <a:effectLst/>
                <a:latin typeface="Inter"/>
              </a:rPr>
              <a:t> number of independent variables</a:t>
            </a:r>
          </a:p>
          <a:p>
            <a:pPr lvl="6"/>
            <a:r>
              <a:rPr lang="en-US" b="1" i="0" dirty="0">
                <a:solidFill>
                  <a:schemeClr val="tx1"/>
                </a:solidFill>
                <a:effectLst/>
                <a:latin typeface="Inter"/>
              </a:rPr>
              <a:t>	             R:</a:t>
            </a:r>
            <a:r>
              <a:rPr lang="en-US" b="0" i="0" dirty="0">
                <a:solidFill>
                  <a:schemeClr val="tx1"/>
                </a:solidFill>
                <a:effectLst/>
                <a:latin typeface="Inter"/>
              </a:rPr>
              <a:t> R-squared value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5CCA65-1813-B08C-1B34-C70E88E0492A}"/>
              </a:ext>
            </a:extLst>
          </p:cNvPr>
          <p:cNvSpPr/>
          <p:nvPr/>
        </p:nvSpPr>
        <p:spPr>
          <a:xfrm>
            <a:off x="241610" y="4924824"/>
            <a:ext cx="423746" cy="163552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6B5F8-DED7-C122-DBA8-857D6EACB570}"/>
              </a:ext>
            </a:extLst>
          </p:cNvPr>
          <p:cNvSpPr txBox="1"/>
          <p:nvPr/>
        </p:nvSpPr>
        <p:spPr>
          <a:xfrm>
            <a:off x="6844990" y="117871"/>
            <a:ext cx="2159620" cy="4917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/>
        </p:nvSpPr>
        <p:spPr>
          <a:xfrm>
            <a:off x="0" y="1863864"/>
            <a:ext cx="9144000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Q&amp;A Session</a:t>
            </a:r>
            <a:endParaRPr sz="3200" b="0" i="0" u="none" strike="noStrike" cap="none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CC22B3-0B1B-4222-6310-07855091111D}"/>
              </a:ext>
            </a:extLst>
          </p:cNvPr>
          <p:cNvSpPr/>
          <p:nvPr/>
        </p:nvSpPr>
        <p:spPr>
          <a:xfrm>
            <a:off x="241610" y="4924824"/>
            <a:ext cx="423746" cy="163552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282</Words>
  <Application>Microsoft Office PowerPoint</Application>
  <PresentationFormat>On-screen Show (16:9)</PresentationFormat>
  <Paragraphs>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Inter</vt:lpstr>
      <vt:lpstr>Noto Sans Symbols</vt:lpstr>
      <vt:lpstr>Söhne</vt:lpstr>
      <vt:lpstr>Wingdings</vt:lpstr>
      <vt:lpstr>Office Theme</vt:lpstr>
      <vt:lpstr>Regression Metrics </vt:lpstr>
      <vt:lpstr>Regression Metrics</vt:lpstr>
      <vt:lpstr>PowerPoint Presentation</vt:lpstr>
      <vt:lpstr>Root Mean Squared Error</vt:lpstr>
      <vt:lpstr>Mean Absolute Error (MAE)</vt:lpstr>
      <vt:lpstr>R-squared (R²) Score</vt:lpstr>
      <vt:lpstr>Adjusted R2 Score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 Supervised Machine Learning</dc:title>
  <dc:creator>Ashok HOME</dc:creator>
  <cp:lastModifiedBy>prashant singh</cp:lastModifiedBy>
  <cp:revision>7</cp:revision>
  <dcterms:created xsi:type="dcterms:W3CDTF">2006-08-16T00:00:00Z</dcterms:created>
  <dcterms:modified xsi:type="dcterms:W3CDTF">2024-05-29T05:09:55Z</dcterms:modified>
</cp:coreProperties>
</file>